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AF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50CEC3-6A3C-43E0-ACD6-6F3C998E0A65}" v="19" dt="2025-11-18T02:55:24.6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6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36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25C1E-D31A-799E-9C00-AB7C28311E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22BB9C-FF15-121B-6511-DA770F93C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7F60A1-89D7-B66C-609B-9287BA9F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B8EB9-98D5-6830-4CDB-1747430FE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15FAB-C4B9-2F4D-74BE-927DFC54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705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D22B1-94BF-41AF-E950-F58E5FCEC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04BF9-C366-99DB-910B-5388D034C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60CBD-2053-220C-ECDD-E6D496968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A1FD-4771-8678-E44E-140FDC566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11835-8352-20DA-1674-2CCBA1A4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44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CCC3-D35C-B319-CCB7-3731A511E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8ADE3-DABE-B004-059E-C4DFBD7A0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D4B8B-C97E-EFDE-2A81-DB1060A91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49967-D160-5D13-BC35-9BE5EBFDA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0D4D5-05FE-D913-FAF6-1AD8A085E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544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DA972-99CF-99A0-820D-645D75390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C18AB-41FD-05A0-6A62-4551CE3F6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6A3C-F51B-0945-D9F9-B22DA89BC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54B58-A460-232F-7BA5-4BF9D8F71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01513-F0A7-6234-C40E-5C1996B1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F3F3-D13A-1448-1C73-F6F098D87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9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1BA3C-2237-2249-E1AE-D88080D6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0CC57-D566-58C6-C6A4-89E181370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8C128-88B6-F64F-83D8-BC16F2AD0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848A8-1A04-9664-7875-6FA8DA7A3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C62235-FA31-80EA-1287-951CC37525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1845B8-0C6E-7D34-2886-767759AD8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0288F4-D9B7-18DA-2576-B1E79D6B8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CB7D89-978C-59B3-B08E-DD858564B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72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45F7-DA36-93C7-BCF7-968FBCFAD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4A7C7-A5D4-8B65-7D8E-46A063907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F2B1B-8909-59A7-3754-397B72EA9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AD7EAD-3359-C7E7-6625-1486EEE3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797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D8AED8-23AB-8B0E-ED5D-D53E1EC2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064E25-D29C-A173-73C8-9BEF35F95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426FE-9345-3286-BA29-A146F9EC9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629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856B4-3420-F26E-9A50-AB166D3E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4B515-D061-7E5B-625D-A35737581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6BCD5-71ED-27A0-65D0-D79B18DD9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FE0B3-63FC-5586-7067-808EF87B8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5D376-12B8-0676-C443-B7D4AC41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6A660-99C7-6384-9462-D6892137B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0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723D-4302-7162-7960-0D63119DC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3E562A-C677-F68A-3E35-DBB95824F3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2BF6F-0888-4268-5AAF-6E62D147E3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58EA3-EF72-9F16-3CC4-064D22E3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BAA49-3693-F5F6-EBB4-2E602363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81932D-A892-BD19-4800-83BE0FA8E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01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9F17-C911-93F5-018E-637091F6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A66D4F-53FE-CC8D-C366-A01BA336AD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A68401-FE5A-059B-C389-6574C1152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F061B-BC87-23B2-138D-0B76E7E1B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73A99-3A03-B832-DF39-5B6A020B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33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B8D093-0D41-E3DC-4326-9DC75049F2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811B5-BA5E-3681-FC9E-2DDE57D44B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75645-B251-8C9B-BF25-A92C257CF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62AFA-3530-75E5-5281-46ED51C4D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D5EBE-9420-C1B8-012F-E58081A14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1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2398D-74E2-E0D6-4FC1-4953A1D1A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5BF9AF-BB9B-A008-056E-F22221CA0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B0FDF-3478-05D2-7EA5-7FE2CA6CB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A21EB-7EF0-4EF6-9690-9A3CBBA3C9C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081A9-2EC3-805B-4576-A93D34254D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1B4A-1555-0B0E-5CEE-02F760440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EDE0F6-369F-4610-8953-168063E00E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00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code/ybifoundation/telecom-customer-churn-prediction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786D9-F995-CB52-9351-EB2C4E55D7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27530"/>
          </a:xfr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txBody>
          <a:bodyPr>
            <a:normAutofit fontScale="90000"/>
          </a:bodyPr>
          <a:lstStyle/>
          <a:p>
            <a:r>
              <a:rPr lang="en-US" sz="2800" b="1" dirty="0"/>
              <a:t>Predicting Customer Churn in Telecom Services</a:t>
            </a:r>
            <a:br>
              <a:rPr lang="en-US" sz="2800" b="1" dirty="0"/>
            </a:br>
            <a:r>
              <a:rPr lang="en-US" sz="1000" dirty="0"/>
              <a:t>Mihret Tesfaye</a:t>
            </a:r>
            <a:br>
              <a:rPr lang="en-US" sz="1000" dirty="0"/>
            </a:br>
            <a:r>
              <a:rPr lang="en-US" sz="1000" dirty="0"/>
              <a:t>Advisor: </a:t>
            </a:r>
            <a:r>
              <a:rPr lang="fi-FI" sz="1000" dirty="0"/>
              <a:t>Jitendra Sai Kota, Ph.D.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5DCFB5-756D-3F03-FC02-10C8F4B7FA51}"/>
              </a:ext>
            </a:extLst>
          </p:cNvPr>
          <p:cNvSpPr txBox="1"/>
          <p:nvPr/>
        </p:nvSpPr>
        <p:spPr>
          <a:xfrm>
            <a:off x="6349" y="4760685"/>
            <a:ext cx="38529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u="sng" dirty="0"/>
              <a:t>Dataset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n = 7,043 customers from a fictional California telecom provider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Variables included: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100" b="1" dirty="0"/>
              <a:t>Demographics</a:t>
            </a:r>
            <a:r>
              <a:rPr lang="en-US" sz="1100" dirty="0"/>
              <a:t> (Age, Senior Citizen, Married, Dependents)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100" b="1" dirty="0"/>
              <a:t>Services</a:t>
            </a:r>
            <a:r>
              <a:rPr lang="en-US" sz="1100" dirty="0"/>
              <a:t> (Internet Type, Phone, Streaming, Security, Contract, Payment)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100" b="1" dirty="0"/>
              <a:t>Performance</a:t>
            </a:r>
            <a:r>
              <a:rPr lang="en-US" sz="1100" dirty="0"/>
              <a:t> (Satisfaction Score, Churn Score, CLTV)</a:t>
            </a:r>
          </a:p>
          <a:p>
            <a:r>
              <a:rPr lang="en-US" sz="1100" b="1" u="sng" dirty="0"/>
              <a:t>Data Preparation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Imported Excel dataset; checked for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0D0038-EAA8-7A5F-8A2F-585568C279EC}"/>
              </a:ext>
            </a:extLst>
          </p:cNvPr>
          <p:cNvSpPr txBox="1"/>
          <p:nvPr/>
        </p:nvSpPr>
        <p:spPr>
          <a:xfrm>
            <a:off x="0" y="4469097"/>
            <a:ext cx="3861578" cy="369332"/>
          </a:xfrm>
          <a:prstGeom prst="rect">
            <a:avLst/>
          </a:prstGeo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Methods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4775E2-72D4-8D2D-7BEC-88A16FF7EC43}"/>
              </a:ext>
            </a:extLst>
          </p:cNvPr>
          <p:cNvSpPr txBox="1"/>
          <p:nvPr/>
        </p:nvSpPr>
        <p:spPr>
          <a:xfrm>
            <a:off x="0" y="723540"/>
            <a:ext cx="3830735" cy="369332"/>
          </a:xfrm>
          <a:prstGeom prst="rect">
            <a:avLst/>
          </a:prstGeo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Introduction</a:t>
            </a:r>
            <a:r>
              <a:rPr lang="en-US" sz="140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F5C7FD-A747-4995-511F-D9DF5B2E6A9A}"/>
              </a:ext>
            </a:extLst>
          </p:cNvPr>
          <p:cNvSpPr txBox="1"/>
          <p:nvPr/>
        </p:nvSpPr>
        <p:spPr>
          <a:xfrm>
            <a:off x="3861579" y="806180"/>
            <a:ext cx="413397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missing/inconsistent values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Created new features: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100" dirty="0"/>
              <a:t> Tenure Group (0–12, 13–24, 25+ months)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n-US" sz="1100" dirty="0"/>
              <a:t> Service Count (total services subscribed)</a:t>
            </a:r>
          </a:p>
          <a:p>
            <a:r>
              <a:rPr lang="en-US" sz="1100" b="1" u="sng" dirty="0"/>
              <a:t>Exploratory Analysis</a:t>
            </a:r>
            <a:endParaRPr lang="en-US" sz="11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Bar charts: churn by </a:t>
            </a:r>
            <a:r>
              <a:rPr lang="en-US" sz="1100" b="1" dirty="0"/>
              <a:t>contract type</a:t>
            </a:r>
            <a:r>
              <a:rPr lang="en-US" sz="1100" dirty="0"/>
              <a:t>, </a:t>
            </a:r>
            <a:r>
              <a:rPr lang="en-US" sz="1100" b="1" dirty="0"/>
              <a:t>internet type</a:t>
            </a:r>
            <a:r>
              <a:rPr lang="en-US" sz="1100" dirty="0"/>
              <a:t>, </a:t>
            </a:r>
            <a:r>
              <a:rPr lang="en-US" sz="1100" b="1" dirty="0"/>
              <a:t>payment method</a:t>
            </a: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Boxplots: </a:t>
            </a:r>
            <a:r>
              <a:rPr lang="en-US" sz="1100" b="1" dirty="0"/>
              <a:t>tenure</a:t>
            </a:r>
            <a:r>
              <a:rPr lang="en-US" sz="1100" dirty="0"/>
              <a:t>, </a:t>
            </a:r>
            <a:r>
              <a:rPr lang="en-US" sz="1100" b="1" dirty="0"/>
              <a:t>CLTV</a:t>
            </a:r>
            <a:r>
              <a:rPr lang="en-US" sz="1100" dirty="0"/>
              <a:t>, </a:t>
            </a:r>
            <a:r>
              <a:rPr lang="en-US" sz="1100" b="1" dirty="0"/>
              <a:t>satisfaction score</a:t>
            </a:r>
            <a:r>
              <a:rPr lang="en-US" sz="1100" dirty="0"/>
              <a:t> by churn vs. non-churn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Scatterplots: </a:t>
            </a:r>
            <a:r>
              <a:rPr lang="en-US" sz="1100" b="1" dirty="0"/>
              <a:t>CLTV vs. churn score</a:t>
            </a:r>
            <a:endParaRPr lang="en-US" sz="1100" dirty="0"/>
          </a:p>
          <a:p>
            <a:r>
              <a:rPr lang="en-US" sz="1100" b="1" u="sng" dirty="0"/>
              <a:t>Statistical Testing</a:t>
            </a:r>
            <a:endParaRPr lang="en-US" sz="1100" u="sng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Chi-square tests</a:t>
            </a:r>
            <a:r>
              <a:rPr lang="en-US" sz="1100" dirty="0"/>
              <a:t> for categorical predictors vs. churn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/>
              <a:t>t-tests / ANOVA</a:t>
            </a:r>
            <a:r>
              <a:rPr lang="en-US" sz="1100" dirty="0"/>
              <a:t> for numeric differences (tenure, CLTV, satisfaction)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B96E86-75B5-E724-48C8-83A70E14F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931" y="3727009"/>
            <a:ext cx="2260602" cy="15627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96FAF2-46E3-8050-226C-3ADAD0C3E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371" y="3791622"/>
            <a:ext cx="2129975" cy="138123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8C2260-3DFB-A6A3-540A-C1FC214BB3A9}"/>
              </a:ext>
            </a:extLst>
          </p:cNvPr>
          <p:cNvSpPr txBox="1"/>
          <p:nvPr/>
        </p:nvSpPr>
        <p:spPr>
          <a:xfrm>
            <a:off x="3835400" y="3319205"/>
            <a:ext cx="4133970" cy="369332"/>
          </a:xfrm>
          <a:prstGeom prst="rect">
            <a:avLst/>
          </a:prstGeo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Results</a:t>
            </a:r>
            <a:r>
              <a:rPr lang="en-US" dirty="0"/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3D563C-A1A9-8A76-5531-6EE72AED98B7}"/>
              </a:ext>
            </a:extLst>
          </p:cNvPr>
          <p:cNvSpPr txBox="1"/>
          <p:nvPr/>
        </p:nvSpPr>
        <p:spPr>
          <a:xfrm>
            <a:off x="8423730" y="3755247"/>
            <a:ext cx="3766460" cy="369332"/>
          </a:xfrm>
          <a:prstGeom prst="rect">
            <a:avLst/>
          </a:prstGeo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Conclusion</a:t>
            </a:r>
            <a:r>
              <a:rPr lang="en-US" dirty="0"/>
              <a:t>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CA8A05-D9B7-CB6C-1F83-053C89D7756B}"/>
              </a:ext>
            </a:extLst>
          </p:cNvPr>
          <p:cNvSpPr txBox="1"/>
          <p:nvPr/>
        </p:nvSpPr>
        <p:spPr>
          <a:xfrm>
            <a:off x="4146265" y="5202118"/>
            <a:ext cx="138849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800" dirty="0"/>
              <a:t>χ² = 1445.3, </a:t>
            </a:r>
            <a:r>
              <a:rPr lang="en-US" sz="800" dirty="0"/>
              <a:t>p &lt; 2.2e-16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E92EF4-AD5B-CC94-ABDC-93A2CF159132}"/>
              </a:ext>
            </a:extLst>
          </p:cNvPr>
          <p:cNvSpPr txBox="1"/>
          <p:nvPr/>
        </p:nvSpPr>
        <p:spPr>
          <a:xfrm>
            <a:off x="6151936" y="5138587"/>
            <a:ext cx="221524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800" dirty="0"/>
              <a:t>χ² = 337.8, </a:t>
            </a:r>
            <a:r>
              <a:rPr lang="en-US" sz="800" dirty="0"/>
              <a:t>p &lt; 2.2e-16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507201-1E0C-B2B7-562D-FD343C557D15}"/>
              </a:ext>
            </a:extLst>
          </p:cNvPr>
          <p:cNvSpPr txBox="1"/>
          <p:nvPr/>
        </p:nvSpPr>
        <p:spPr>
          <a:xfrm>
            <a:off x="4184357" y="6644020"/>
            <a:ext cx="158454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t = 34.88, p &lt; 2.2e-16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A5AB97-4965-2C9B-2F6E-92127C3B11E0}"/>
              </a:ext>
            </a:extLst>
          </p:cNvPr>
          <p:cNvSpPr txBox="1"/>
          <p:nvPr/>
        </p:nvSpPr>
        <p:spPr>
          <a:xfrm>
            <a:off x="6200447" y="6642556"/>
            <a:ext cx="1796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 = 94.97, p &lt; 2.2e-16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4054DCA-D3D5-92EF-DA66-761259E9EA85}"/>
              </a:ext>
            </a:extLst>
          </p:cNvPr>
          <p:cNvSpPr txBox="1"/>
          <p:nvPr/>
        </p:nvSpPr>
        <p:spPr>
          <a:xfrm>
            <a:off x="8419191" y="5635835"/>
            <a:ext cx="3766460" cy="369332"/>
          </a:xfrm>
          <a:prstGeom prst="rect">
            <a:avLst/>
          </a:prstGeom>
          <a:gradFill flip="none" rotWithShape="1">
            <a:gsLst>
              <a:gs pos="0">
                <a:srgbClr val="97AFFB">
                  <a:tint val="66000"/>
                  <a:satMod val="160000"/>
                </a:srgbClr>
              </a:gs>
              <a:gs pos="50000">
                <a:srgbClr val="97AFFB">
                  <a:tint val="44500"/>
                  <a:satMod val="160000"/>
                </a:srgbClr>
              </a:gs>
              <a:gs pos="100000">
                <a:srgbClr val="97AFFB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Limitations</a:t>
            </a:r>
            <a:r>
              <a:rPr lang="en-US" dirty="0"/>
              <a:t>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2F1D3AE-569B-8049-A838-6D0F2090CBEC}"/>
              </a:ext>
            </a:extLst>
          </p:cNvPr>
          <p:cNvSpPr txBox="1"/>
          <p:nvPr/>
        </p:nvSpPr>
        <p:spPr>
          <a:xfrm>
            <a:off x="8215756" y="5946575"/>
            <a:ext cx="397624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Dataset limited to one region; results may not generalize.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Some variables, like customer interactions, complaints, or promotional offers, are not included.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Future work: Use machine learning models (logistic regression, random forest) to predict churn.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47E4C8-41F0-4654-FAF0-D21C84454505}"/>
              </a:ext>
            </a:extLst>
          </p:cNvPr>
          <p:cNvSpPr txBox="1"/>
          <p:nvPr/>
        </p:nvSpPr>
        <p:spPr>
          <a:xfrm>
            <a:off x="-70980" y="1031317"/>
            <a:ext cx="3965581" cy="3485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Customer churn is a major challenge in the telecommunications industry, where retaining customers is more cost-effective than acquiring new ones.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Identifying the factors that influence churn helps companies improve service quality and develop targeted retention strategies.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This project uses the Telco Customer Churn dataset (7,043 customers) from a fictional California telecom provider.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Focus areas include demographic characteristics, service usage, satisfaction indicators, and customer lifetime value.</a:t>
            </a:r>
          </a:p>
          <a:p>
            <a:r>
              <a:rPr lang="en-US" sz="1050" b="1" u="sng" dirty="0"/>
              <a:t>Objectives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Identify the customer characteristics and service attributes that most strongly predict churn.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Assess how contract type, internet service, and payment method influence churn likelihood.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Evaluate the relationship between tenure, satisfaction score, and CLTV with churn behavior.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Determine which demographic groups (e.g., senior citizens, dependents, marital status) are more likely to churn.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Provide data-driven insights to support effective customer retention strategies.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A74CC1-86B9-2AEA-B150-F361C0A2E4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656" y="5436339"/>
            <a:ext cx="1951549" cy="1250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A0CC80-6A5E-E236-3B4F-BADA188323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7574" y="5314095"/>
            <a:ext cx="1877544" cy="13351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34FE7A4-00E8-13B6-E2F1-B3129A8A0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7237" y="780387"/>
            <a:ext cx="1892305" cy="148656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2C01D18-B2EB-8E7C-BFA4-48A75D388C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9543" y="727530"/>
            <a:ext cx="2129974" cy="153942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E7F59B4-9254-2023-42FE-EB98F638FF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2030" y="2252198"/>
            <a:ext cx="4189970" cy="1486567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F9D8DB3-A44C-A0BE-C4FC-10D9826D88DE}"/>
              </a:ext>
            </a:extLst>
          </p:cNvPr>
          <p:cNvSpPr txBox="1"/>
          <p:nvPr/>
        </p:nvSpPr>
        <p:spPr>
          <a:xfrm>
            <a:off x="8335729" y="4124578"/>
            <a:ext cx="3808192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Month-to-month contracts &amp; electronic check payments  highest churn (p &lt; 0.001)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Churned customers: shorter tenure, lower satisfaction (p &lt; 0.001); slightly lower CLTV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Higher churn among senior citizens, unmarried customers, and those without dependents (Chi² p &lt; 0.001)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High-risk segments should be prioritized for targeted retention strategies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0B75E78-E04E-B4D2-10D4-225CE3439E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13818"/>
            <a:ext cx="1192948" cy="592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82E524D-0B82-1412-20AB-0B9707FAA3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22420" y="-1"/>
            <a:ext cx="1269580" cy="691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25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2BFF1-E221-71D8-7491-9BC66EAC3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765E-0996-8515-1FE9-6B5A700B7C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1800" dirty="0" err="1"/>
              <a:t>OpenAI</a:t>
            </a:r>
            <a:r>
              <a:rPr lang="fr-FR" sz="1800" dirty="0"/>
              <a:t>. (2025). </a:t>
            </a:r>
            <a:r>
              <a:rPr lang="fr-FR" sz="1800" dirty="0" err="1"/>
              <a:t>ChatGPT</a:t>
            </a:r>
            <a:r>
              <a:rPr lang="fr-FR" sz="1800" dirty="0"/>
              <a:t> (version 5.1) [Large </a:t>
            </a:r>
            <a:r>
              <a:rPr lang="fr-FR" sz="1800" dirty="0" err="1"/>
              <a:t>language</a:t>
            </a:r>
            <a:r>
              <a:rPr lang="fr-FR" sz="1800" dirty="0"/>
              <a:t> model]. </a:t>
            </a:r>
            <a:r>
              <a:rPr lang="fr-FR" sz="1800" dirty="0">
                <a:hlinkClick r:id="rId2"/>
              </a:rPr>
              <a:t>https://chat.openai.com/</a:t>
            </a:r>
            <a:endParaRPr lang="fr-FR" sz="1800" dirty="0"/>
          </a:p>
          <a:p>
            <a:r>
              <a:rPr lang="en-US" sz="1800" dirty="0"/>
              <a:t>YBI Foundation. (n.d.). Telecom customer churn prediction [Notebook]. Kaggle. </a:t>
            </a:r>
            <a:r>
              <a:rPr lang="en-US" sz="1800" dirty="0">
                <a:hlinkClick r:id="rId3"/>
              </a:rPr>
              <a:t>https://www.kaggle.com/code/ybifoundation/telecom-customer-churn-prediction</a:t>
            </a:r>
            <a:endParaRPr lang="en-US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01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278B16072825468BCB400CE1ED8EAC" ma:contentTypeVersion="8" ma:contentTypeDescription="Create a new document." ma:contentTypeScope="" ma:versionID="f0dbe98fc8cddedb818d46c53b68eea4">
  <xsd:schema xmlns:xsd="http://www.w3.org/2001/XMLSchema" xmlns:xs="http://www.w3.org/2001/XMLSchema" xmlns:p="http://schemas.microsoft.com/office/2006/metadata/properties" xmlns:ns3="0180d422-8773-4828-92b3-1970e8acd64d" xmlns:ns4="ee626ecc-a958-42a7-8102-1305ec249182" targetNamespace="http://schemas.microsoft.com/office/2006/metadata/properties" ma:root="true" ma:fieldsID="3d47432626f3413d6d4c34d051ebd3ac" ns3:_="" ns4:_="">
    <xsd:import namespace="0180d422-8773-4828-92b3-1970e8acd64d"/>
    <xsd:import namespace="ee626ecc-a958-42a7-8102-1305ec249182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80d422-8773-4828-92b3-1970e8acd64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626ecc-a958-42a7-8102-1305ec24918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180d422-8773-4828-92b3-1970e8acd64d" xsi:nil="true"/>
  </documentManagement>
</p:properties>
</file>

<file path=customXml/itemProps1.xml><?xml version="1.0" encoding="utf-8"?>
<ds:datastoreItem xmlns:ds="http://schemas.openxmlformats.org/officeDocument/2006/customXml" ds:itemID="{63359DF2-86E0-4EB4-AA6A-080131B811B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1531DF-D727-4D70-9651-3790F69D713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80d422-8773-4828-92b3-1970e8acd64d"/>
    <ds:schemaRef ds:uri="ee626ecc-a958-42a7-8102-1305ec24918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4BB56D-CB18-4932-AFFE-31767B84CAA2}">
  <ds:schemaRefs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purl.org/dc/terms/"/>
    <ds:schemaRef ds:uri="http://schemas.openxmlformats.org/package/2006/metadata/core-properties"/>
    <ds:schemaRef ds:uri="ee626ecc-a958-42a7-8102-1305ec249182"/>
    <ds:schemaRef ds:uri="0180d422-8773-4828-92b3-1970e8acd6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507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Courier New</vt:lpstr>
      <vt:lpstr>Wingdings</vt:lpstr>
      <vt:lpstr>Office Theme</vt:lpstr>
      <vt:lpstr>Predicting Customer Churn in Telecom Services Mihret Tesfaye Advisor: Jitendra Sai Kota, Ph.D.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Mihret Tesfaye</dc:creator>
  <cp:lastModifiedBy>Mihret Tesfaye</cp:lastModifiedBy>
  <cp:revision>20</cp:revision>
  <dcterms:created xsi:type="dcterms:W3CDTF">2025-11-17T21:50:41Z</dcterms:created>
  <dcterms:modified xsi:type="dcterms:W3CDTF">2025-12-04T19:36:37Z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0x01010021278B16072825468BCB400CE1ED8EAC</vt:lpwstr>
  </property>
</Properties>
</file>